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" charset="1" panose="020B0604020202020204"/>
      <p:regular r:id="rId13"/>
    </p:embeddedFont>
    <p:embeddedFont>
      <p:font typeface="Arimo Bold" charset="1" panose="020B0704020202020204"/>
      <p:regular r:id="rId14"/>
    </p:embeddedFont>
    <p:embeddedFont>
      <p:font typeface="Barlow Medium" charset="1" panose="00000600000000000000"/>
      <p:regular r:id="rId18"/>
    </p:embeddedFont>
    <p:embeddedFont>
      <p:font typeface="Barlow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.png" Type="http://schemas.openxmlformats.org/officeDocument/2006/relationships/image"/><Relationship Id="rId16" Target="../media/image2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18" Target="../media/image3.png" Type="http://schemas.openxmlformats.org/officeDocument/2006/relationships/image"/><Relationship Id="rId19" Target="../media/image4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2648" y="3384853"/>
            <a:ext cx="5272868" cy="5673262"/>
            <a:chOff x="0" y="0"/>
            <a:chExt cx="1388739" cy="1494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8739" cy="1494192"/>
            </a:xfrm>
            <a:custGeom>
              <a:avLst/>
              <a:gdLst/>
              <a:ahLst/>
              <a:cxnLst/>
              <a:rect r="r" b="b" t="t" l="l"/>
              <a:pathLst>
                <a:path h="1494192" w="1388739">
                  <a:moveTo>
                    <a:pt x="22024" y="0"/>
                  </a:moveTo>
                  <a:lnTo>
                    <a:pt x="1366715" y="0"/>
                  </a:lnTo>
                  <a:cubicBezTo>
                    <a:pt x="1378878" y="0"/>
                    <a:pt x="1388739" y="9860"/>
                    <a:pt x="1388739" y="22024"/>
                  </a:cubicBezTo>
                  <a:lnTo>
                    <a:pt x="1388739" y="1472169"/>
                  </a:lnTo>
                  <a:cubicBezTo>
                    <a:pt x="1388739" y="1484332"/>
                    <a:pt x="1378878" y="1494192"/>
                    <a:pt x="1366715" y="1494192"/>
                  </a:cubicBezTo>
                  <a:lnTo>
                    <a:pt x="22024" y="1494192"/>
                  </a:lnTo>
                  <a:cubicBezTo>
                    <a:pt x="9860" y="1494192"/>
                    <a:pt x="0" y="1484332"/>
                    <a:pt x="0" y="1472169"/>
                  </a:cubicBezTo>
                  <a:lnTo>
                    <a:pt x="0" y="22024"/>
                  </a:lnTo>
                  <a:cubicBezTo>
                    <a:pt x="0" y="9860"/>
                    <a:pt x="9860" y="0"/>
                    <a:pt x="22024" y="0"/>
                  </a:cubicBezTo>
                  <a:close/>
                </a:path>
              </a:pathLst>
            </a:custGeom>
            <a:solidFill>
              <a:srgbClr val="6E000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88739" cy="153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2648" y="600106"/>
            <a:ext cx="67518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sz="4500">
                <a:solidFill>
                  <a:srgbClr val="6E0001"/>
                </a:solidFill>
                <a:latin typeface="Arimo"/>
                <a:ea typeface="Arimo"/>
                <a:cs typeface="Arimo"/>
                <a:sym typeface="Arimo"/>
              </a:rPr>
              <a:t>Real-World Case Study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2648" y="1285906"/>
            <a:ext cx="1402513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6E0001"/>
                </a:solidFill>
                <a:latin typeface="Arimo Bold"/>
                <a:ea typeface="Arimo Bold"/>
                <a:cs typeface="Arimo Bold"/>
                <a:sym typeface="Arimo Bold"/>
              </a:rPr>
              <a:t>Manchester Arena Bombing, 2017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2648" y="2276506"/>
            <a:ext cx="1327320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E84847"/>
                </a:solidFill>
                <a:latin typeface="Arimo Bold"/>
                <a:ea typeface="Arimo Bold"/>
                <a:cs typeface="Arimo Bold"/>
                <a:sym typeface="Arimo Bold"/>
              </a:rPr>
              <a:t>Good intentions. Zero coordination. Wasted donations.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07566" y="3384853"/>
            <a:ext cx="5272868" cy="5673262"/>
            <a:chOff x="0" y="0"/>
            <a:chExt cx="1388739" cy="14941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8739" cy="1494192"/>
            </a:xfrm>
            <a:custGeom>
              <a:avLst/>
              <a:gdLst/>
              <a:ahLst/>
              <a:cxnLst/>
              <a:rect r="r" b="b" t="t" l="l"/>
              <a:pathLst>
                <a:path h="1494192" w="1388739">
                  <a:moveTo>
                    <a:pt x="22024" y="0"/>
                  </a:moveTo>
                  <a:lnTo>
                    <a:pt x="1366715" y="0"/>
                  </a:lnTo>
                  <a:cubicBezTo>
                    <a:pt x="1378878" y="0"/>
                    <a:pt x="1388739" y="9860"/>
                    <a:pt x="1388739" y="22024"/>
                  </a:cubicBezTo>
                  <a:lnTo>
                    <a:pt x="1388739" y="1472169"/>
                  </a:lnTo>
                  <a:cubicBezTo>
                    <a:pt x="1388739" y="1484332"/>
                    <a:pt x="1378878" y="1494192"/>
                    <a:pt x="1366715" y="1494192"/>
                  </a:cubicBezTo>
                  <a:lnTo>
                    <a:pt x="22024" y="1494192"/>
                  </a:lnTo>
                  <a:cubicBezTo>
                    <a:pt x="9860" y="1494192"/>
                    <a:pt x="0" y="1484332"/>
                    <a:pt x="0" y="1472169"/>
                  </a:cubicBezTo>
                  <a:lnTo>
                    <a:pt x="0" y="22024"/>
                  </a:lnTo>
                  <a:cubicBezTo>
                    <a:pt x="0" y="9860"/>
                    <a:pt x="9860" y="0"/>
                    <a:pt x="22024" y="0"/>
                  </a:cubicBezTo>
                  <a:close/>
                </a:path>
              </a:pathLst>
            </a:custGeom>
            <a:solidFill>
              <a:srgbClr val="6E00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88739" cy="153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97743" y="3384853"/>
            <a:ext cx="5272868" cy="5673262"/>
            <a:chOff x="0" y="0"/>
            <a:chExt cx="1388739" cy="14941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8739" cy="1494192"/>
            </a:xfrm>
            <a:custGeom>
              <a:avLst/>
              <a:gdLst/>
              <a:ahLst/>
              <a:cxnLst/>
              <a:rect r="r" b="b" t="t" l="l"/>
              <a:pathLst>
                <a:path h="1494192" w="1388739">
                  <a:moveTo>
                    <a:pt x="22024" y="0"/>
                  </a:moveTo>
                  <a:lnTo>
                    <a:pt x="1366715" y="0"/>
                  </a:lnTo>
                  <a:cubicBezTo>
                    <a:pt x="1378878" y="0"/>
                    <a:pt x="1388739" y="9860"/>
                    <a:pt x="1388739" y="22024"/>
                  </a:cubicBezTo>
                  <a:lnTo>
                    <a:pt x="1388739" y="1472169"/>
                  </a:lnTo>
                  <a:cubicBezTo>
                    <a:pt x="1388739" y="1484332"/>
                    <a:pt x="1378878" y="1494192"/>
                    <a:pt x="1366715" y="1494192"/>
                  </a:cubicBezTo>
                  <a:lnTo>
                    <a:pt x="22024" y="1494192"/>
                  </a:lnTo>
                  <a:cubicBezTo>
                    <a:pt x="9860" y="1494192"/>
                    <a:pt x="0" y="1484332"/>
                    <a:pt x="0" y="1472169"/>
                  </a:cubicBezTo>
                  <a:lnTo>
                    <a:pt x="0" y="22024"/>
                  </a:lnTo>
                  <a:cubicBezTo>
                    <a:pt x="0" y="9860"/>
                    <a:pt x="9860" y="0"/>
                    <a:pt x="22024" y="0"/>
                  </a:cubicBezTo>
                  <a:close/>
                </a:path>
              </a:pathLst>
            </a:custGeom>
            <a:solidFill>
              <a:srgbClr val="6E000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88739" cy="153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11833" y="4358689"/>
            <a:ext cx="4074498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Thousands queued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554693"/>
            <a:ext cx="4112716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Citizens rushed to donate blood in a wave of public goodwill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64498" y="4049127"/>
            <a:ext cx="3960221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Hospitals turned donors away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88250" y="5554693"/>
            <a:ext cx="4112716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Bloodbanks were overwhelmed — many has more than enough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99079" y="4049127"/>
            <a:ext cx="3960221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 system to coordinate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22831" y="5554693"/>
            <a:ext cx="4112716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Without a triage layer, good intentions became a logistical crisis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133154" y="9477215"/>
            <a:ext cx="1855430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6E0001"/>
                </a:solidFill>
                <a:latin typeface="Arimo"/>
                <a:ea typeface="Arimo"/>
                <a:cs typeface="Arimo"/>
                <a:sym typeface="Arimo"/>
              </a:rPr>
              <a:t>The problem wasn’t unwillingness to help —  it was the absence of a coordination layer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766392" y="-1848785"/>
            <a:ext cx="4989726" cy="4829314"/>
          </a:xfrm>
          <a:custGeom>
            <a:avLst/>
            <a:gdLst/>
            <a:ahLst/>
            <a:cxnLst/>
            <a:rect r="r" b="b" t="t" l="l"/>
            <a:pathLst>
              <a:path h="4829314" w="4989726">
                <a:moveTo>
                  <a:pt x="0" y="0"/>
                </a:moveTo>
                <a:lnTo>
                  <a:pt x="4989726" y="0"/>
                </a:lnTo>
                <a:lnTo>
                  <a:pt x="4989726" y="4829314"/>
                </a:lnTo>
                <a:lnTo>
                  <a:pt x="0" y="4829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3438" y="1761778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92588" y="6267652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39388" y="821928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56138" y="8934078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78547" y="125384"/>
            <a:ext cx="3690819" cy="3428140"/>
          </a:xfrm>
          <a:custGeom>
            <a:avLst/>
            <a:gdLst/>
            <a:ahLst/>
            <a:cxnLst/>
            <a:rect r="r" b="b" t="t" l="l"/>
            <a:pathLst>
              <a:path h="3428140" w="3690819">
                <a:moveTo>
                  <a:pt x="0" y="0"/>
                </a:moveTo>
                <a:lnTo>
                  <a:pt x="3690820" y="0"/>
                </a:lnTo>
                <a:lnTo>
                  <a:pt x="3690820" y="3428140"/>
                </a:lnTo>
                <a:lnTo>
                  <a:pt x="0" y="3428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88851" y="2647793"/>
            <a:ext cx="3575640" cy="3434288"/>
          </a:xfrm>
          <a:custGeom>
            <a:avLst/>
            <a:gdLst/>
            <a:ahLst/>
            <a:cxnLst/>
            <a:rect r="r" b="b" t="t" l="l"/>
            <a:pathLst>
              <a:path h="3434288" w="3575640">
                <a:moveTo>
                  <a:pt x="0" y="0"/>
                </a:moveTo>
                <a:lnTo>
                  <a:pt x="3575640" y="0"/>
                </a:lnTo>
                <a:lnTo>
                  <a:pt x="3575640" y="3434288"/>
                </a:lnTo>
                <a:lnTo>
                  <a:pt x="0" y="3434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4320" y="6990390"/>
            <a:ext cx="3771757" cy="3650486"/>
          </a:xfrm>
          <a:custGeom>
            <a:avLst/>
            <a:gdLst/>
            <a:ahLst/>
            <a:cxnLst/>
            <a:rect r="r" b="b" t="t" l="l"/>
            <a:pathLst>
              <a:path h="3650486" w="3771757">
                <a:moveTo>
                  <a:pt x="0" y="0"/>
                </a:moveTo>
                <a:lnTo>
                  <a:pt x="3771758" y="0"/>
                </a:lnTo>
                <a:lnTo>
                  <a:pt x="3771758" y="3650486"/>
                </a:lnTo>
                <a:lnTo>
                  <a:pt x="0" y="36504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14458" y="7078956"/>
            <a:ext cx="3516110" cy="3473345"/>
          </a:xfrm>
          <a:custGeom>
            <a:avLst/>
            <a:gdLst/>
            <a:ahLst/>
            <a:cxnLst/>
            <a:rect r="r" b="b" t="t" l="l"/>
            <a:pathLst>
              <a:path h="3473345" w="3516110">
                <a:moveTo>
                  <a:pt x="0" y="0"/>
                </a:moveTo>
                <a:lnTo>
                  <a:pt x="3516110" y="0"/>
                </a:lnTo>
                <a:lnTo>
                  <a:pt x="3516110" y="3473346"/>
                </a:lnTo>
                <a:lnTo>
                  <a:pt x="0" y="3473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674" y="7330764"/>
            <a:ext cx="3866210" cy="3579329"/>
          </a:xfrm>
          <a:custGeom>
            <a:avLst/>
            <a:gdLst/>
            <a:ahLst/>
            <a:cxnLst/>
            <a:rect r="r" b="b" t="t" l="l"/>
            <a:pathLst>
              <a:path h="3579329" w="3866210">
                <a:moveTo>
                  <a:pt x="0" y="0"/>
                </a:moveTo>
                <a:lnTo>
                  <a:pt x="3866210" y="0"/>
                </a:lnTo>
                <a:lnTo>
                  <a:pt x="3866210" y="3579328"/>
                </a:lnTo>
                <a:lnTo>
                  <a:pt x="0" y="35793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66392" y="-1848785"/>
            <a:ext cx="4989726" cy="4829314"/>
          </a:xfrm>
          <a:custGeom>
            <a:avLst/>
            <a:gdLst/>
            <a:ahLst/>
            <a:cxnLst/>
            <a:rect r="r" b="b" t="t" l="l"/>
            <a:pathLst>
              <a:path h="4829314" w="4989726">
                <a:moveTo>
                  <a:pt x="0" y="0"/>
                </a:moveTo>
                <a:lnTo>
                  <a:pt x="4989726" y="0"/>
                </a:lnTo>
                <a:lnTo>
                  <a:pt x="4989726" y="4829314"/>
                </a:lnTo>
                <a:lnTo>
                  <a:pt x="0" y="48293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65718" y="2600168"/>
            <a:ext cx="11756550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6E0001"/>
                </a:solidFill>
                <a:latin typeface="Arimo"/>
                <a:ea typeface="Arimo"/>
                <a:cs typeface="Arimo"/>
                <a:sym typeface="Arimo"/>
              </a:rPr>
              <a:t>Blood</a:t>
            </a:r>
            <a:r>
              <a:rPr lang="en-US" sz="14400">
                <a:solidFill>
                  <a:srgbClr val="E84847"/>
                </a:solidFill>
                <a:latin typeface="Arimo"/>
                <a:ea typeface="Arimo"/>
                <a:cs typeface="Arimo"/>
                <a:sym typeface="Arimo"/>
              </a:rPr>
              <a:t>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5725" y="6447465"/>
            <a:ext cx="117565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Team Name: 404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Team Members: Sia Hui Qi, Sia Wen Xin, Tan Lu Xing Neston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99795" y="5133975"/>
            <a:ext cx="1108841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The right blood, at the right place, </a:t>
            </a:r>
            <a:r>
              <a:rPr lang="en-US" b="true" sz="3999">
                <a:solidFill>
                  <a:srgbClr val="E84847"/>
                </a:solidFill>
                <a:latin typeface="Barlow Medium"/>
                <a:ea typeface="Barlow Medium"/>
                <a:cs typeface="Barlow Medium"/>
                <a:sym typeface="Barlow Medium"/>
              </a:rPr>
              <a:t>at the right time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9194" y="381008"/>
            <a:ext cx="3045768" cy="3009367"/>
          </a:xfrm>
          <a:custGeom>
            <a:avLst/>
            <a:gdLst/>
            <a:ahLst/>
            <a:cxnLst/>
            <a:rect r="r" b="b" t="t" l="l"/>
            <a:pathLst>
              <a:path h="3009367" w="3045768">
                <a:moveTo>
                  <a:pt x="0" y="0"/>
                </a:moveTo>
                <a:lnTo>
                  <a:pt x="3045767" y="0"/>
                </a:lnTo>
                <a:lnTo>
                  <a:pt x="3045767" y="3009367"/>
                </a:lnTo>
                <a:lnTo>
                  <a:pt x="0" y="3009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2648" y="3384853"/>
            <a:ext cx="5272868" cy="5673262"/>
            <a:chOff x="0" y="0"/>
            <a:chExt cx="1388739" cy="14941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8739" cy="1494192"/>
            </a:xfrm>
            <a:custGeom>
              <a:avLst/>
              <a:gdLst/>
              <a:ahLst/>
              <a:cxnLst/>
              <a:rect r="r" b="b" t="t" l="l"/>
              <a:pathLst>
                <a:path h="1494192" w="1388739">
                  <a:moveTo>
                    <a:pt x="22024" y="0"/>
                  </a:moveTo>
                  <a:lnTo>
                    <a:pt x="1366715" y="0"/>
                  </a:lnTo>
                  <a:cubicBezTo>
                    <a:pt x="1378878" y="0"/>
                    <a:pt x="1388739" y="9860"/>
                    <a:pt x="1388739" y="22024"/>
                  </a:cubicBezTo>
                  <a:lnTo>
                    <a:pt x="1388739" y="1472169"/>
                  </a:lnTo>
                  <a:cubicBezTo>
                    <a:pt x="1388739" y="1484332"/>
                    <a:pt x="1378878" y="1494192"/>
                    <a:pt x="1366715" y="1494192"/>
                  </a:cubicBezTo>
                  <a:lnTo>
                    <a:pt x="22024" y="1494192"/>
                  </a:lnTo>
                  <a:cubicBezTo>
                    <a:pt x="9860" y="1494192"/>
                    <a:pt x="0" y="1484332"/>
                    <a:pt x="0" y="1472169"/>
                  </a:cubicBezTo>
                  <a:lnTo>
                    <a:pt x="0" y="22024"/>
                  </a:lnTo>
                  <a:cubicBezTo>
                    <a:pt x="0" y="9860"/>
                    <a:pt x="9860" y="0"/>
                    <a:pt x="22024" y="0"/>
                  </a:cubicBezTo>
                  <a:close/>
                </a:path>
              </a:pathLst>
            </a:custGeom>
            <a:solidFill>
              <a:srgbClr val="FFFFFF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88739" cy="153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537150" y="8523003"/>
            <a:ext cx="5074299" cy="5194259"/>
          </a:xfrm>
          <a:custGeom>
            <a:avLst/>
            <a:gdLst/>
            <a:ahLst/>
            <a:cxnLst/>
            <a:rect r="r" b="b" t="t" l="l"/>
            <a:pathLst>
              <a:path h="5194259" w="5074299">
                <a:moveTo>
                  <a:pt x="0" y="0"/>
                </a:moveTo>
                <a:lnTo>
                  <a:pt x="5074300" y="0"/>
                </a:lnTo>
                <a:lnTo>
                  <a:pt x="5074300" y="5194259"/>
                </a:lnTo>
                <a:lnTo>
                  <a:pt x="0" y="5194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5662" y="-2400135"/>
            <a:ext cx="4317470" cy="4419541"/>
          </a:xfrm>
          <a:custGeom>
            <a:avLst/>
            <a:gdLst/>
            <a:ahLst/>
            <a:cxnLst/>
            <a:rect r="r" b="b" t="t" l="l"/>
            <a:pathLst>
              <a:path h="4419541" w="4317470">
                <a:moveTo>
                  <a:pt x="0" y="0"/>
                </a:moveTo>
                <a:lnTo>
                  <a:pt x="4317471" y="0"/>
                </a:lnTo>
                <a:lnTo>
                  <a:pt x="4317471" y="4419540"/>
                </a:lnTo>
                <a:lnTo>
                  <a:pt x="0" y="4419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20891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69073" y="2571716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70275" y="2491628"/>
            <a:ext cx="1245252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AD2223"/>
                </a:solidFill>
                <a:latin typeface="Arimo"/>
                <a:ea typeface="Arimo"/>
                <a:cs typeface="Arimo"/>
                <a:sym typeface="Arimo"/>
              </a:rPr>
              <a:t>A digital traffic controller for emergency blood donation.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0275" y="1380867"/>
            <a:ext cx="1116137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b="true" sz="6399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Our Solution - BloodLine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724" y="6270658"/>
            <a:ext cx="4112716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Blood banks push real-time stock levels per type to a central system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07566" y="3384853"/>
            <a:ext cx="5272868" cy="5673262"/>
            <a:chOff x="0" y="0"/>
            <a:chExt cx="1388739" cy="14941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8739" cy="1494192"/>
            </a:xfrm>
            <a:custGeom>
              <a:avLst/>
              <a:gdLst/>
              <a:ahLst/>
              <a:cxnLst/>
              <a:rect r="r" b="b" t="t" l="l"/>
              <a:pathLst>
                <a:path h="1494192" w="1388739">
                  <a:moveTo>
                    <a:pt x="22024" y="0"/>
                  </a:moveTo>
                  <a:lnTo>
                    <a:pt x="1366715" y="0"/>
                  </a:lnTo>
                  <a:cubicBezTo>
                    <a:pt x="1378878" y="0"/>
                    <a:pt x="1388739" y="9860"/>
                    <a:pt x="1388739" y="22024"/>
                  </a:cubicBezTo>
                  <a:lnTo>
                    <a:pt x="1388739" y="1472169"/>
                  </a:lnTo>
                  <a:cubicBezTo>
                    <a:pt x="1388739" y="1484332"/>
                    <a:pt x="1378878" y="1494192"/>
                    <a:pt x="1366715" y="1494192"/>
                  </a:cubicBezTo>
                  <a:lnTo>
                    <a:pt x="22024" y="1494192"/>
                  </a:lnTo>
                  <a:cubicBezTo>
                    <a:pt x="9860" y="1494192"/>
                    <a:pt x="0" y="1484332"/>
                    <a:pt x="0" y="1472169"/>
                  </a:cubicBezTo>
                  <a:lnTo>
                    <a:pt x="0" y="22024"/>
                  </a:lnTo>
                  <a:cubicBezTo>
                    <a:pt x="0" y="9860"/>
                    <a:pt x="9860" y="0"/>
                    <a:pt x="22024" y="0"/>
                  </a:cubicBezTo>
                  <a:close/>
                </a:path>
              </a:pathLst>
            </a:custGeom>
            <a:solidFill>
              <a:srgbClr val="FFFFFF">
                <a:alpha val="3568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88739" cy="153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97743" y="3384853"/>
            <a:ext cx="5272868" cy="5673262"/>
            <a:chOff x="0" y="0"/>
            <a:chExt cx="1388739" cy="14941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8739" cy="1494192"/>
            </a:xfrm>
            <a:custGeom>
              <a:avLst/>
              <a:gdLst/>
              <a:ahLst/>
              <a:cxnLst/>
              <a:rect r="r" b="b" t="t" l="l"/>
              <a:pathLst>
                <a:path h="1494192" w="1388739">
                  <a:moveTo>
                    <a:pt x="22024" y="0"/>
                  </a:moveTo>
                  <a:lnTo>
                    <a:pt x="1366715" y="0"/>
                  </a:lnTo>
                  <a:cubicBezTo>
                    <a:pt x="1378878" y="0"/>
                    <a:pt x="1388739" y="9860"/>
                    <a:pt x="1388739" y="22024"/>
                  </a:cubicBezTo>
                  <a:lnTo>
                    <a:pt x="1388739" y="1472169"/>
                  </a:lnTo>
                  <a:cubicBezTo>
                    <a:pt x="1388739" y="1484332"/>
                    <a:pt x="1378878" y="1494192"/>
                    <a:pt x="1366715" y="1494192"/>
                  </a:cubicBezTo>
                  <a:lnTo>
                    <a:pt x="22024" y="1494192"/>
                  </a:lnTo>
                  <a:cubicBezTo>
                    <a:pt x="9860" y="1494192"/>
                    <a:pt x="0" y="1484332"/>
                    <a:pt x="0" y="1472169"/>
                  </a:cubicBezTo>
                  <a:lnTo>
                    <a:pt x="0" y="22024"/>
                  </a:lnTo>
                  <a:cubicBezTo>
                    <a:pt x="0" y="9860"/>
                    <a:pt x="9860" y="0"/>
                    <a:pt x="22024" y="0"/>
                  </a:cubicBezTo>
                  <a:close/>
                </a:path>
              </a:pathLst>
            </a:custGeom>
            <a:solidFill>
              <a:srgbClr val="FFFFFF">
                <a:alpha val="35686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88739" cy="153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42346" y="5399104"/>
            <a:ext cx="3013472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Live Inventory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63889" y="5399104"/>
            <a:ext cx="3960221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Singpass Identity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12097" y="6270658"/>
            <a:ext cx="4112716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Donors login via Singpass — blood type &amp; eligibility verified instantly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30313" y="5399104"/>
            <a:ext cx="3960221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Fast-Pass QR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77818" y="6270658"/>
            <a:ext cx="4112716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Critical donors get a QR code with a strict 20-min arrival window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36753" y="4076404"/>
            <a:ext cx="824658" cy="1067096"/>
          </a:xfrm>
          <a:custGeom>
            <a:avLst/>
            <a:gdLst/>
            <a:ahLst/>
            <a:cxnLst/>
            <a:rect r="r" b="b" t="t" l="l"/>
            <a:pathLst>
              <a:path h="1067096" w="824658">
                <a:moveTo>
                  <a:pt x="0" y="0"/>
                </a:moveTo>
                <a:lnTo>
                  <a:pt x="824658" y="0"/>
                </a:lnTo>
                <a:lnTo>
                  <a:pt x="824658" y="1067096"/>
                </a:lnTo>
                <a:lnTo>
                  <a:pt x="0" y="1067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17983" y="4076404"/>
            <a:ext cx="900944" cy="1067096"/>
          </a:xfrm>
          <a:custGeom>
            <a:avLst/>
            <a:gdLst/>
            <a:ahLst/>
            <a:cxnLst/>
            <a:rect r="r" b="b" t="t" l="l"/>
            <a:pathLst>
              <a:path h="1067096" w="900944">
                <a:moveTo>
                  <a:pt x="0" y="0"/>
                </a:moveTo>
                <a:lnTo>
                  <a:pt x="900944" y="0"/>
                </a:lnTo>
                <a:lnTo>
                  <a:pt x="900944" y="1067096"/>
                </a:lnTo>
                <a:lnTo>
                  <a:pt x="0" y="10670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636561" y="4076404"/>
            <a:ext cx="1074913" cy="1067096"/>
          </a:xfrm>
          <a:custGeom>
            <a:avLst/>
            <a:gdLst/>
            <a:ahLst/>
            <a:cxnLst/>
            <a:rect r="r" b="b" t="t" l="l"/>
            <a:pathLst>
              <a:path h="1067096" w="1074913">
                <a:moveTo>
                  <a:pt x="0" y="0"/>
                </a:moveTo>
                <a:lnTo>
                  <a:pt x="1074914" y="0"/>
                </a:lnTo>
                <a:lnTo>
                  <a:pt x="1074914" y="1067096"/>
                </a:lnTo>
                <a:lnTo>
                  <a:pt x="0" y="10670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1933" y="256406"/>
            <a:ext cx="2950776" cy="2625889"/>
          </a:xfrm>
          <a:custGeom>
            <a:avLst/>
            <a:gdLst/>
            <a:ahLst/>
            <a:cxnLst/>
            <a:rect r="r" b="b" t="t" l="l"/>
            <a:pathLst>
              <a:path h="2625889" w="2950776">
                <a:moveTo>
                  <a:pt x="0" y="0"/>
                </a:moveTo>
                <a:lnTo>
                  <a:pt x="2950776" y="0"/>
                </a:lnTo>
                <a:lnTo>
                  <a:pt x="2950776" y="2625888"/>
                </a:lnTo>
                <a:lnTo>
                  <a:pt x="0" y="2625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325" y="-952027"/>
            <a:ext cx="2839681" cy="2741335"/>
          </a:xfrm>
          <a:custGeom>
            <a:avLst/>
            <a:gdLst/>
            <a:ahLst/>
            <a:cxnLst/>
            <a:rect r="r" b="b" t="t" l="l"/>
            <a:pathLst>
              <a:path h="2741335" w="2839681">
                <a:moveTo>
                  <a:pt x="0" y="0"/>
                </a:moveTo>
                <a:lnTo>
                  <a:pt x="2839680" y="0"/>
                </a:lnTo>
                <a:lnTo>
                  <a:pt x="2839680" y="2741334"/>
                </a:lnTo>
                <a:lnTo>
                  <a:pt x="0" y="2741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9619" y="8275859"/>
            <a:ext cx="4522843" cy="4304038"/>
          </a:xfrm>
          <a:custGeom>
            <a:avLst/>
            <a:gdLst/>
            <a:ahLst/>
            <a:cxnLst/>
            <a:rect r="r" b="b" t="t" l="l"/>
            <a:pathLst>
              <a:path h="4304038" w="4522843">
                <a:moveTo>
                  <a:pt x="0" y="0"/>
                </a:moveTo>
                <a:lnTo>
                  <a:pt x="4522844" y="0"/>
                </a:lnTo>
                <a:lnTo>
                  <a:pt x="4522844" y="4304038"/>
                </a:lnTo>
                <a:lnTo>
                  <a:pt x="0" y="4304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53552" y="1000389"/>
            <a:ext cx="4018765" cy="4088970"/>
          </a:xfrm>
          <a:custGeom>
            <a:avLst/>
            <a:gdLst/>
            <a:ahLst/>
            <a:cxnLst/>
            <a:rect r="r" b="b" t="t" l="l"/>
            <a:pathLst>
              <a:path h="4088970" w="4018765">
                <a:moveTo>
                  <a:pt x="0" y="0"/>
                </a:moveTo>
                <a:lnTo>
                  <a:pt x="4018766" y="0"/>
                </a:lnTo>
                <a:lnTo>
                  <a:pt x="4018766" y="4088970"/>
                </a:lnTo>
                <a:lnTo>
                  <a:pt x="0" y="4088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4688" y="3418152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61538" y="1000302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706578" y="2496027"/>
            <a:ext cx="1097695" cy="109769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E9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26450" y="1374225"/>
            <a:ext cx="15435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AD2223"/>
                </a:solidFill>
                <a:latin typeface="Arimo Bold"/>
                <a:ea typeface="Arimo Bold"/>
                <a:cs typeface="Arimo Bold"/>
                <a:sym typeface="Arimo Bold"/>
              </a:rPr>
              <a:t>Website 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06027" y="3652201"/>
            <a:ext cx="50989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AD2223"/>
                </a:solidFill>
                <a:latin typeface="Arimo"/>
                <a:ea typeface="Arimo"/>
                <a:cs typeface="Arimo"/>
                <a:sym typeface="Arimo"/>
              </a:rPr>
              <a:t>Login via Singpass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2927" y="3652225"/>
            <a:ext cx="50989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AD2223"/>
                </a:solidFill>
                <a:latin typeface="Arimo"/>
                <a:ea typeface="Arimo"/>
                <a:cs typeface="Arimo"/>
                <a:sym typeface="Arimo"/>
              </a:rPr>
              <a:t>Eligibility checked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3013" y="4488893"/>
            <a:ext cx="6594661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Identity verified instantly. Confirm blood type.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08592" y="4488893"/>
            <a:ext cx="719730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Travel history, donation interval, and blood type deficit checked in real-time.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06083" y="7071231"/>
            <a:ext cx="50989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AD2223"/>
                </a:solidFill>
                <a:latin typeface="Arimo"/>
                <a:ea typeface="Arimo"/>
                <a:cs typeface="Arimo"/>
                <a:sym typeface="Arimo"/>
              </a:rPr>
              <a:t>Fast-Pass Issued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43225" y="7099707"/>
            <a:ext cx="637846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AD2223"/>
                </a:solidFill>
                <a:latin typeface="Arimo"/>
                <a:ea typeface="Arimo"/>
                <a:cs typeface="Arimo"/>
                <a:sym typeface="Arimo"/>
              </a:rPr>
              <a:t>Donate. Skip the queue.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06083" y="7833231"/>
            <a:ext cx="5098950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Critical blood type? QR code generated with a 20-min arrival window.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41625" y="7937907"/>
            <a:ext cx="633123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Arrive &amp; scan. Right person at the right centre at the right time.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81496" y="2692449"/>
            <a:ext cx="11481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AD2223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483478" y="2496027"/>
            <a:ext cx="1097695" cy="10976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E9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06710" y="5894093"/>
            <a:ext cx="1097695" cy="10976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E9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483610" y="5894093"/>
            <a:ext cx="1097695" cy="109769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E9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433181" y="2692449"/>
            <a:ext cx="11481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AD2223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56281" y="6084593"/>
            <a:ext cx="11481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AD2223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58396" y="6090516"/>
            <a:ext cx="11481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AD2223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1423" y="2859491"/>
            <a:ext cx="954597" cy="947654"/>
          </a:xfrm>
          <a:custGeom>
            <a:avLst/>
            <a:gdLst/>
            <a:ahLst/>
            <a:cxnLst/>
            <a:rect r="r" b="b" t="t" l="l"/>
            <a:pathLst>
              <a:path h="947654" w="954597">
                <a:moveTo>
                  <a:pt x="0" y="0"/>
                </a:moveTo>
                <a:lnTo>
                  <a:pt x="954596" y="0"/>
                </a:lnTo>
                <a:lnTo>
                  <a:pt x="954596" y="947654"/>
                </a:lnTo>
                <a:lnTo>
                  <a:pt x="0" y="947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04499" y="2859491"/>
            <a:ext cx="947654" cy="947654"/>
          </a:xfrm>
          <a:custGeom>
            <a:avLst/>
            <a:gdLst/>
            <a:ahLst/>
            <a:cxnLst/>
            <a:rect r="r" b="b" t="t" l="l"/>
            <a:pathLst>
              <a:path h="947654" w="947654">
                <a:moveTo>
                  <a:pt x="0" y="0"/>
                </a:moveTo>
                <a:lnTo>
                  <a:pt x="947654" y="0"/>
                </a:lnTo>
                <a:lnTo>
                  <a:pt x="947654" y="947654"/>
                </a:lnTo>
                <a:lnTo>
                  <a:pt x="0" y="947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51467" y="2859491"/>
            <a:ext cx="954597" cy="1130643"/>
          </a:xfrm>
          <a:custGeom>
            <a:avLst/>
            <a:gdLst/>
            <a:ahLst/>
            <a:cxnLst/>
            <a:rect r="r" b="b" t="t" l="l"/>
            <a:pathLst>
              <a:path h="1130643" w="954597">
                <a:moveTo>
                  <a:pt x="0" y="0"/>
                </a:moveTo>
                <a:lnTo>
                  <a:pt x="954596" y="0"/>
                </a:lnTo>
                <a:lnTo>
                  <a:pt x="954596" y="1130643"/>
                </a:lnTo>
                <a:lnTo>
                  <a:pt x="0" y="1130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30963" y="6306966"/>
            <a:ext cx="1130643" cy="1130643"/>
          </a:xfrm>
          <a:custGeom>
            <a:avLst/>
            <a:gdLst/>
            <a:ahLst/>
            <a:cxnLst/>
            <a:rect r="r" b="b" t="t" l="l"/>
            <a:pathLst>
              <a:path h="1130643" w="1130643">
                <a:moveTo>
                  <a:pt x="0" y="0"/>
                </a:moveTo>
                <a:lnTo>
                  <a:pt x="1130643" y="0"/>
                </a:lnTo>
                <a:lnTo>
                  <a:pt x="1130643" y="1130643"/>
                </a:lnTo>
                <a:lnTo>
                  <a:pt x="0" y="1130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0491" y="6527971"/>
            <a:ext cx="1009759" cy="962025"/>
          </a:xfrm>
          <a:custGeom>
            <a:avLst/>
            <a:gdLst/>
            <a:ahLst/>
            <a:cxnLst/>
            <a:rect r="r" b="b" t="t" l="l"/>
            <a:pathLst>
              <a:path h="962025" w="1009759">
                <a:moveTo>
                  <a:pt x="0" y="0"/>
                </a:moveTo>
                <a:lnTo>
                  <a:pt x="1009759" y="0"/>
                </a:lnTo>
                <a:lnTo>
                  <a:pt x="1009759" y="962025"/>
                </a:lnTo>
                <a:lnTo>
                  <a:pt x="0" y="962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6450" y="1374225"/>
            <a:ext cx="15435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AD2223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6833" y="3099955"/>
            <a:ext cx="370443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AD2223"/>
                </a:solidFill>
                <a:latin typeface="Arimo Bold"/>
                <a:ea typeface="Arimo Bold"/>
                <a:cs typeface="Arimo Bold"/>
                <a:sym typeface="Arimo Bold"/>
              </a:rPr>
              <a:t>Dynamic Fast-Pass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1423" y="3929062"/>
            <a:ext cx="4979843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QR code with strict 20-min window. Bypasses all queues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04499" y="4171950"/>
            <a:ext cx="560619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All centres update stock continuously.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76003" y="3099955"/>
            <a:ext cx="38489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AD2223"/>
                </a:solidFill>
                <a:latin typeface="Arimo Bold"/>
                <a:ea typeface="Arimo Bold"/>
                <a:cs typeface="Arimo Bold"/>
                <a:sym typeface="Arimo Bold"/>
              </a:rPr>
              <a:t>Live blood inventory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26877" y="3191450"/>
            <a:ext cx="370443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AD2223"/>
                </a:solidFill>
                <a:latin typeface="Arimo Bold"/>
                <a:ea typeface="Arimo Bold"/>
                <a:cs typeface="Arimo Bold"/>
                <a:sym typeface="Arimo Bold"/>
              </a:rPr>
              <a:t>Singpass verified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1467" y="4113959"/>
            <a:ext cx="497984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Identity pulled directly. Zero self-reported risk.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93961" y="6638925"/>
            <a:ext cx="40176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AD2223"/>
                </a:solidFill>
                <a:latin typeface="Arimo Bold"/>
                <a:ea typeface="Arimo Bold"/>
                <a:cs typeface="Arimo Bold"/>
                <a:sym typeface="Arimo Bold"/>
              </a:rPr>
              <a:t>Travel deferral engine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30963" y="7804321"/>
            <a:ext cx="497984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HSA-aligned rules auto-remove ineligible donors.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38850" y="6775621"/>
            <a:ext cx="38489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AD2223"/>
                </a:solidFill>
                <a:latin typeface="Arimo Bold"/>
                <a:ea typeface="Arimo Bold"/>
                <a:cs typeface="Arimo Bold"/>
                <a:sym typeface="Arimo Bold"/>
              </a:rPr>
              <a:t>Rewards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81066" y="7804321"/>
            <a:ext cx="497984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Points, tiers, vouchers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99325" y="-952027"/>
            <a:ext cx="2839681" cy="2741335"/>
          </a:xfrm>
          <a:custGeom>
            <a:avLst/>
            <a:gdLst/>
            <a:ahLst/>
            <a:cxnLst/>
            <a:rect r="r" b="b" t="t" l="l"/>
            <a:pathLst>
              <a:path h="2741335" w="2839681">
                <a:moveTo>
                  <a:pt x="0" y="0"/>
                </a:moveTo>
                <a:lnTo>
                  <a:pt x="2839680" y="0"/>
                </a:lnTo>
                <a:lnTo>
                  <a:pt x="2839680" y="2741334"/>
                </a:lnTo>
                <a:lnTo>
                  <a:pt x="0" y="27413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933965" y="109777"/>
            <a:ext cx="2950776" cy="2625889"/>
          </a:xfrm>
          <a:custGeom>
            <a:avLst/>
            <a:gdLst/>
            <a:ahLst/>
            <a:cxnLst/>
            <a:rect r="r" b="b" t="t" l="l"/>
            <a:pathLst>
              <a:path h="2625889" w="2950776">
                <a:moveTo>
                  <a:pt x="0" y="0"/>
                </a:moveTo>
                <a:lnTo>
                  <a:pt x="2950776" y="0"/>
                </a:lnTo>
                <a:lnTo>
                  <a:pt x="2950776" y="2625889"/>
                </a:lnTo>
                <a:lnTo>
                  <a:pt x="0" y="26258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441388" y="-98837"/>
            <a:ext cx="4018765" cy="4088970"/>
          </a:xfrm>
          <a:custGeom>
            <a:avLst/>
            <a:gdLst/>
            <a:ahLst/>
            <a:cxnLst/>
            <a:rect r="r" b="b" t="t" l="l"/>
            <a:pathLst>
              <a:path h="4088970" w="4018765">
                <a:moveTo>
                  <a:pt x="0" y="0"/>
                </a:moveTo>
                <a:lnTo>
                  <a:pt x="4018766" y="0"/>
                </a:lnTo>
                <a:lnTo>
                  <a:pt x="4018766" y="4088971"/>
                </a:lnTo>
                <a:lnTo>
                  <a:pt x="0" y="40889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797348" y="2448212"/>
            <a:ext cx="281746" cy="364575"/>
          </a:xfrm>
          <a:custGeom>
            <a:avLst/>
            <a:gdLst/>
            <a:ahLst/>
            <a:cxnLst/>
            <a:rect r="r" b="b" t="t" l="l"/>
            <a:pathLst>
              <a:path h="364575" w="281746">
                <a:moveTo>
                  <a:pt x="0" y="0"/>
                </a:moveTo>
                <a:lnTo>
                  <a:pt x="281746" y="0"/>
                </a:lnTo>
                <a:lnTo>
                  <a:pt x="281746" y="364575"/>
                </a:lnTo>
                <a:lnTo>
                  <a:pt x="0" y="36457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6417" y="3433082"/>
            <a:ext cx="6892383" cy="1278056"/>
            <a:chOff x="0" y="0"/>
            <a:chExt cx="1815278" cy="336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5278" cy="336607"/>
            </a:xfrm>
            <a:custGeom>
              <a:avLst/>
              <a:gdLst/>
              <a:ahLst/>
              <a:cxnLst/>
              <a:rect r="r" b="b" t="t" l="l"/>
              <a:pathLst>
                <a:path h="336607" w="1815278">
                  <a:moveTo>
                    <a:pt x="0" y="0"/>
                  </a:moveTo>
                  <a:lnTo>
                    <a:pt x="1815278" y="0"/>
                  </a:lnTo>
                  <a:lnTo>
                    <a:pt x="1815278" y="336607"/>
                  </a:lnTo>
                  <a:lnTo>
                    <a:pt x="0" y="336607"/>
                  </a:lnTo>
                  <a:close/>
                </a:path>
              </a:pathLst>
            </a:custGeom>
            <a:solidFill>
              <a:srgbClr val="FFF0E7"/>
            </a:solidFill>
            <a:ln w="38100" cap="sq">
              <a:solidFill>
                <a:srgbClr val="6E000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15278" cy="374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7655" y="3812063"/>
            <a:ext cx="537691" cy="520094"/>
          </a:xfrm>
          <a:custGeom>
            <a:avLst/>
            <a:gdLst/>
            <a:ahLst/>
            <a:cxnLst/>
            <a:rect r="r" b="b" t="t" l="l"/>
            <a:pathLst>
              <a:path h="520094" w="537691">
                <a:moveTo>
                  <a:pt x="0" y="0"/>
                </a:moveTo>
                <a:lnTo>
                  <a:pt x="537690" y="0"/>
                </a:lnTo>
                <a:lnTo>
                  <a:pt x="537690" y="520093"/>
                </a:lnTo>
                <a:lnTo>
                  <a:pt x="0" y="520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6417" y="5054037"/>
            <a:ext cx="6892383" cy="1278056"/>
            <a:chOff x="0" y="0"/>
            <a:chExt cx="1815278" cy="3366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15278" cy="336607"/>
            </a:xfrm>
            <a:custGeom>
              <a:avLst/>
              <a:gdLst/>
              <a:ahLst/>
              <a:cxnLst/>
              <a:rect r="r" b="b" t="t" l="l"/>
              <a:pathLst>
                <a:path h="336607" w="1815278">
                  <a:moveTo>
                    <a:pt x="0" y="0"/>
                  </a:moveTo>
                  <a:lnTo>
                    <a:pt x="1815278" y="0"/>
                  </a:lnTo>
                  <a:lnTo>
                    <a:pt x="1815278" y="336607"/>
                  </a:lnTo>
                  <a:lnTo>
                    <a:pt x="0" y="336607"/>
                  </a:lnTo>
                  <a:close/>
                </a:path>
              </a:pathLst>
            </a:custGeom>
            <a:solidFill>
              <a:srgbClr val="FFF0E7"/>
            </a:solidFill>
            <a:ln w="38100" cap="sq">
              <a:solidFill>
                <a:srgbClr val="6E000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15278" cy="374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6417" y="6674993"/>
            <a:ext cx="6892383" cy="1278056"/>
            <a:chOff x="0" y="0"/>
            <a:chExt cx="1815278" cy="3366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15278" cy="336607"/>
            </a:xfrm>
            <a:custGeom>
              <a:avLst/>
              <a:gdLst/>
              <a:ahLst/>
              <a:cxnLst/>
              <a:rect r="r" b="b" t="t" l="l"/>
              <a:pathLst>
                <a:path h="336607" w="1815278">
                  <a:moveTo>
                    <a:pt x="0" y="0"/>
                  </a:moveTo>
                  <a:lnTo>
                    <a:pt x="1815278" y="0"/>
                  </a:lnTo>
                  <a:lnTo>
                    <a:pt x="1815278" y="336607"/>
                  </a:lnTo>
                  <a:lnTo>
                    <a:pt x="0" y="336607"/>
                  </a:lnTo>
                  <a:close/>
                </a:path>
              </a:pathLst>
            </a:custGeom>
            <a:solidFill>
              <a:srgbClr val="FFF0E7"/>
            </a:solidFill>
            <a:ln w="38100" cap="sq">
              <a:solidFill>
                <a:srgbClr val="6E000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15278" cy="374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829619" y="8275859"/>
            <a:ext cx="4522843" cy="4304038"/>
          </a:xfrm>
          <a:custGeom>
            <a:avLst/>
            <a:gdLst/>
            <a:ahLst/>
            <a:cxnLst/>
            <a:rect r="r" b="b" t="t" l="l"/>
            <a:pathLst>
              <a:path h="4304038" w="4522843">
                <a:moveTo>
                  <a:pt x="0" y="0"/>
                </a:moveTo>
                <a:lnTo>
                  <a:pt x="4522844" y="0"/>
                </a:lnTo>
                <a:lnTo>
                  <a:pt x="4522844" y="4304038"/>
                </a:lnTo>
                <a:lnTo>
                  <a:pt x="0" y="4304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06417" y="8295949"/>
            <a:ext cx="6892383" cy="1278056"/>
            <a:chOff x="0" y="0"/>
            <a:chExt cx="1815278" cy="3366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15278" cy="336607"/>
            </a:xfrm>
            <a:custGeom>
              <a:avLst/>
              <a:gdLst/>
              <a:ahLst/>
              <a:cxnLst/>
              <a:rect r="r" b="b" t="t" l="l"/>
              <a:pathLst>
                <a:path h="336607" w="1815278">
                  <a:moveTo>
                    <a:pt x="0" y="0"/>
                  </a:moveTo>
                  <a:lnTo>
                    <a:pt x="1815278" y="0"/>
                  </a:lnTo>
                  <a:lnTo>
                    <a:pt x="1815278" y="336607"/>
                  </a:lnTo>
                  <a:lnTo>
                    <a:pt x="0" y="336607"/>
                  </a:lnTo>
                  <a:close/>
                </a:path>
              </a:pathLst>
            </a:custGeom>
            <a:solidFill>
              <a:srgbClr val="FFF0E7"/>
            </a:solidFill>
            <a:ln w="38100" cap="sq">
              <a:solidFill>
                <a:srgbClr val="6E000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15278" cy="374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57655" y="5433018"/>
            <a:ext cx="537691" cy="520094"/>
          </a:xfrm>
          <a:custGeom>
            <a:avLst/>
            <a:gdLst/>
            <a:ahLst/>
            <a:cxnLst/>
            <a:rect r="r" b="b" t="t" l="l"/>
            <a:pathLst>
              <a:path h="520094" w="537691">
                <a:moveTo>
                  <a:pt x="0" y="0"/>
                </a:moveTo>
                <a:lnTo>
                  <a:pt x="537690" y="0"/>
                </a:lnTo>
                <a:lnTo>
                  <a:pt x="537690" y="520094"/>
                </a:lnTo>
                <a:lnTo>
                  <a:pt x="0" y="52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7655" y="7103618"/>
            <a:ext cx="537691" cy="520094"/>
          </a:xfrm>
          <a:custGeom>
            <a:avLst/>
            <a:gdLst/>
            <a:ahLst/>
            <a:cxnLst/>
            <a:rect r="r" b="b" t="t" l="l"/>
            <a:pathLst>
              <a:path h="520094" w="537691">
                <a:moveTo>
                  <a:pt x="0" y="0"/>
                </a:moveTo>
                <a:lnTo>
                  <a:pt x="537690" y="0"/>
                </a:lnTo>
                <a:lnTo>
                  <a:pt x="537690" y="520094"/>
                </a:lnTo>
                <a:lnTo>
                  <a:pt x="0" y="52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7655" y="8738206"/>
            <a:ext cx="537691" cy="520094"/>
          </a:xfrm>
          <a:custGeom>
            <a:avLst/>
            <a:gdLst/>
            <a:ahLst/>
            <a:cxnLst/>
            <a:rect r="r" b="b" t="t" l="l"/>
            <a:pathLst>
              <a:path h="520094" w="537691">
                <a:moveTo>
                  <a:pt x="0" y="0"/>
                </a:moveTo>
                <a:lnTo>
                  <a:pt x="537690" y="0"/>
                </a:lnTo>
                <a:lnTo>
                  <a:pt x="537690" y="520094"/>
                </a:lnTo>
                <a:lnTo>
                  <a:pt x="0" y="52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040897" y="3433082"/>
            <a:ext cx="6892383" cy="1278056"/>
            <a:chOff x="0" y="0"/>
            <a:chExt cx="1815278" cy="3366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15278" cy="336607"/>
            </a:xfrm>
            <a:custGeom>
              <a:avLst/>
              <a:gdLst/>
              <a:ahLst/>
              <a:cxnLst/>
              <a:rect r="r" b="b" t="t" l="l"/>
              <a:pathLst>
                <a:path h="336607" w="1815278">
                  <a:moveTo>
                    <a:pt x="0" y="0"/>
                  </a:moveTo>
                  <a:lnTo>
                    <a:pt x="1815278" y="0"/>
                  </a:lnTo>
                  <a:lnTo>
                    <a:pt x="1815278" y="336607"/>
                  </a:lnTo>
                  <a:lnTo>
                    <a:pt x="0" y="336607"/>
                  </a:lnTo>
                  <a:close/>
                </a:path>
              </a:pathLst>
            </a:custGeom>
            <a:solidFill>
              <a:srgbClr val="FFF0E7"/>
            </a:solidFill>
            <a:ln w="38100" cap="sq">
              <a:solidFill>
                <a:srgbClr val="6E000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15278" cy="374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451251" y="3812063"/>
            <a:ext cx="500236" cy="520094"/>
          </a:xfrm>
          <a:custGeom>
            <a:avLst/>
            <a:gdLst/>
            <a:ahLst/>
            <a:cxnLst/>
            <a:rect r="r" b="b" t="t" l="l"/>
            <a:pathLst>
              <a:path h="520094" w="500236">
                <a:moveTo>
                  <a:pt x="0" y="0"/>
                </a:moveTo>
                <a:lnTo>
                  <a:pt x="500236" y="0"/>
                </a:lnTo>
                <a:lnTo>
                  <a:pt x="500236" y="520093"/>
                </a:lnTo>
                <a:lnTo>
                  <a:pt x="0" y="520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26500" y="871538"/>
            <a:ext cx="154350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9"/>
              </a:lnSpc>
            </a:pPr>
            <a:r>
              <a:rPr lang="en-US" b="true" sz="6199">
                <a:solidFill>
                  <a:srgbClr val="AD2223"/>
                </a:solidFill>
                <a:latin typeface="Arimo Bold"/>
                <a:ea typeface="Arimo Bold"/>
                <a:cs typeface="Arimo Bold"/>
                <a:sym typeface="Arimo Bold"/>
              </a:rPr>
              <a:t>Why BloodLine works.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6417" y="2608058"/>
            <a:ext cx="497984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WITHOUT BLOODLINE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40897" y="2608058"/>
            <a:ext cx="497984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WITH BLOODLINE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56701" y="3829222"/>
            <a:ext cx="54252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4-hour queues at blood banks.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56701" y="5239775"/>
            <a:ext cx="542528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Critical types run out mid-crisis.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56701" y="6828246"/>
            <a:ext cx="542528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Eligible donors don’t know where to go.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56701" y="8448349"/>
            <a:ext cx="54252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Ineligible donors clog the system.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13437" y="3586335"/>
            <a:ext cx="542528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20-min Fast-Pass windows —no  crowds.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969117" y="5054037"/>
            <a:ext cx="6892383" cy="1278056"/>
            <a:chOff x="0" y="0"/>
            <a:chExt cx="1815278" cy="33660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15278" cy="336607"/>
            </a:xfrm>
            <a:custGeom>
              <a:avLst/>
              <a:gdLst/>
              <a:ahLst/>
              <a:cxnLst/>
              <a:rect r="r" b="b" t="t" l="l"/>
              <a:pathLst>
                <a:path h="336607" w="1815278">
                  <a:moveTo>
                    <a:pt x="0" y="0"/>
                  </a:moveTo>
                  <a:lnTo>
                    <a:pt x="1815278" y="0"/>
                  </a:lnTo>
                  <a:lnTo>
                    <a:pt x="1815278" y="336607"/>
                  </a:lnTo>
                  <a:lnTo>
                    <a:pt x="0" y="336607"/>
                  </a:lnTo>
                  <a:close/>
                </a:path>
              </a:pathLst>
            </a:custGeom>
            <a:solidFill>
              <a:srgbClr val="FFF0E7"/>
            </a:solidFill>
            <a:ln w="38100" cap="sq">
              <a:solidFill>
                <a:srgbClr val="6E000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815278" cy="374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0451251" y="5433018"/>
            <a:ext cx="500236" cy="520094"/>
          </a:xfrm>
          <a:custGeom>
            <a:avLst/>
            <a:gdLst/>
            <a:ahLst/>
            <a:cxnLst/>
            <a:rect r="r" b="b" t="t" l="l"/>
            <a:pathLst>
              <a:path h="520094" w="500236">
                <a:moveTo>
                  <a:pt x="0" y="0"/>
                </a:moveTo>
                <a:lnTo>
                  <a:pt x="500236" y="0"/>
                </a:lnTo>
                <a:lnTo>
                  <a:pt x="500236" y="520094"/>
                </a:lnTo>
                <a:lnTo>
                  <a:pt x="0" y="5200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313437" y="5206437"/>
            <a:ext cx="542528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Sort donors by exact blood type needed.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969117" y="6674993"/>
            <a:ext cx="6892383" cy="1278056"/>
            <a:chOff x="0" y="0"/>
            <a:chExt cx="1815278" cy="3366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15278" cy="336607"/>
            </a:xfrm>
            <a:custGeom>
              <a:avLst/>
              <a:gdLst/>
              <a:ahLst/>
              <a:cxnLst/>
              <a:rect r="r" b="b" t="t" l="l"/>
              <a:pathLst>
                <a:path h="336607" w="1815278">
                  <a:moveTo>
                    <a:pt x="0" y="0"/>
                  </a:moveTo>
                  <a:lnTo>
                    <a:pt x="1815278" y="0"/>
                  </a:lnTo>
                  <a:lnTo>
                    <a:pt x="1815278" y="336607"/>
                  </a:lnTo>
                  <a:lnTo>
                    <a:pt x="0" y="336607"/>
                  </a:lnTo>
                  <a:close/>
                </a:path>
              </a:pathLst>
            </a:custGeom>
            <a:solidFill>
              <a:srgbClr val="FFF0E7"/>
            </a:solidFill>
            <a:ln w="38100" cap="sq">
              <a:solidFill>
                <a:srgbClr val="6E0001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815278" cy="374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0451251" y="7046468"/>
            <a:ext cx="500236" cy="520094"/>
          </a:xfrm>
          <a:custGeom>
            <a:avLst/>
            <a:gdLst/>
            <a:ahLst/>
            <a:cxnLst/>
            <a:rect r="r" b="b" t="t" l="l"/>
            <a:pathLst>
              <a:path h="520094" w="500236">
                <a:moveTo>
                  <a:pt x="0" y="0"/>
                </a:moveTo>
                <a:lnTo>
                  <a:pt x="500236" y="0"/>
                </a:lnTo>
                <a:lnTo>
                  <a:pt x="500236" y="520094"/>
                </a:lnTo>
                <a:lnTo>
                  <a:pt x="0" y="5200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313437" y="6828246"/>
            <a:ext cx="542528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Donors directed to blood bank of choice.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969117" y="8295949"/>
            <a:ext cx="6892383" cy="1278056"/>
            <a:chOff x="0" y="0"/>
            <a:chExt cx="1815278" cy="3366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15278" cy="336607"/>
            </a:xfrm>
            <a:custGeom>
              <a:avLst/>
              <a:gdLst/>
              <a:ahLst/>
              <a:cxnLst/>
              <a:rect r="r" b="b" t="t" l="l"/>
              <a:pathLst>
                <a:path h="336607" w="1815278">
                  <a:moveTo>
                    <a:pt x="0" y="0"/>
                  </a:moveTo>
                  <a:lnTo>
                    <a:pt x="1815278" y="0"/>
                  </a:lnTo>
                  <a:lnTo>
                    <a:pt x="1815278" y="336607"/>
                  </a:lnTo>
                  <a:lnTo>
                    <a:pt x="0" y="336607"/>
                  </a:lnTo>
                  <a:close/>
                </a:path>
              </a:pathLst>
            </a:custGeom>
            <a:solidFill>
              <a:srgbClr val="FFF0E7"/>
            </a:solidFill>
            <a:ln w="38100" cap="sq">
              <a:solidFill>
                <a:srgbClr val="6E0001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815278" cy="374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0451251" y="8667424"/>
            <a:ext cx="500236" cy="520094"/>
          </a:xfrm>
          <a:custGeom>
            <a:avLst/>
            <a:gdLst/>
            <a:ahLst/>
            <a:cxnLst/>
            <a:rect r="r" b="b" t="t" l="l"/>
            <a:pathLst>
              <a:path h="520094" w="500236">
                <a:moveTo>
                  <a:pt x="0" y="0"/>
                </a:moveTo>
                <a:lnTo>
                  <a:pt x="500236" y="0"/>
                </a:lnTo>
                <a:lnTo>
                  <a:pt x="500236" y="520093"/>
                </a:lnTo>
                <a:lnTo>
                  <a:pt x="0" y="520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1313437" y="8441695"/>
            <a:ext cx="542528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6E0001"/>
                </a:solidFill>
                <a:latin typeface="Barlow Medium"/>
                <a:ea typeface="Barlow Medium"/>
                <a:cs typeface="Barlow Medium"/>
                <a:sym typeface="Barlow Medium"/>
              </a:rPr>
              <a:t>Travel deferral engine removes ineligible silently.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499325" y="-952027"/>
            <a:ext cx="2839681" cy="2741335"/>
          </a:xfrm>
          <a:custGeom>
            <a:avLst/>
            <a:gdLst/>
            <a:ahLst/>
            <a:cxnLst/>
            <a:rect r="r" b="b" t="t" l="l"/>
            <a:pathLst>
              <a:path h="2741335" w="2839681">
                <a:moveTo>
                  <a:pt x="0" y="0"/>
                </a:moveTo>
                <a:lnTo>
                  <a:pt x="2839680" y="0"/>
                </a:lnTo>
                <a:lnTo>
                  <a:pt x="2839680" y="2741334"/>
                </a:lnTo>
                <a:lnTo>
                  <a:pt x="0" y="27413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-933965" y="109777"/>
            <a:ext cx="2950776" cy="2625889"/>
          </a:xfrm>
          <a:custGeom>
            <a:avLst/>
            <a:gdLst/>
            <a:ahLst/>
            <a:cxnLst/>
            <a:rect r="r" b="b" t="t" l="l"/>
            <a:pathLst>
              <a:path h="2625889" w="2950776">
                <a:moveTo>
                  <a:pt x="0" y="0"/>
                </a:moveTo>
                <a:lnTo>
                  <a:pt x="2950776" y="0"/>
                </a:lnTo>
                <a:lnTo>
                  <a:pt x="2950776" y="2625889"/>
                </a:lnTo>
                <a:lnTo>
                  <a:pt x="0" y="26258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959194" y="381008"/>
            <a:ext cx="3045768" cy="3009367"/>
          </a:xfrm>
          <a:custGeom>
            <a:avLst/>
            <a:gdLst/>
            <a:ahLst/>
            <a:cxnLst/>
            <a:rect r="r" b="b" t="t" l="l"/>
            <a:pathLst>
              <a:path h="3009367" w="3045768">
                <a:moveTo>
                  <a:pt x="0" y="0"/>
                </a:moveTo>
                <a:lnTo>
                  <a:pt x="3045767" y="0"/>
                </a:lnTo>
                <a:lnTo>
                  <a:pt x="3045767" y="3009367"/>
                </a:lnTo>
                <a:lnTo>
                  <a:pt x="0" y="30093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6169073" y="2571716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92918"/>
            <a:ext cx="12115565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6E0001"/>
                </a:solidFill>
                <a:latin typeface="Arimo Bold"/>
                <a:ea typeface="Arimo Bold"/>
                <a:cs typeface="Arimo Bold"/>
                <a:sym typeface="Arimo Bold"/>
              </a:rPr>
              <a:t>When every minute counts,</a:t>
            </a:r>
          </a:p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E84847"/>
                </a:solidFill>
                <a:latin typeface="Arimo Bold"/>
                <a:ea typeface="Arimo Bold"/>
                <a:cs typeface="Arimo Bold"/>
                <a:sym typeface="Arimo Bold"/>
              </a:rPr>
              <a:t>BloodLine delivers.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35846" y="4339639"/>
            <a:ext cx="5272868" cy="4564478"/>
            <a:chOff x="0" y="0"/>
            <a:chExt cx="1388739" cy="12021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8739" cy="1202167"/>
            </a:xfrm>
            <a:custGeom>
              <a:avLst/>
              <a:gdLst/>
              <a:ahLst/>
              <a:cxnLst/>
              <a:rect r="r" b="b" t="t" l="l"/>
              <a:pathLst>
                <a:path h="1202167" w="1388739">
                  <a:moveTo>
                    <a:pt x="22024" y="0"/>
                  </a:moveTo>
                  <a:lnTo>
                    <a:pt x="1366715" y="0"/>
                  </a:lnTo>
                  <a:cubicBezTo>
                    <a:pt x="1378878" y="0"/>
                    <a:pt x="1388739" y="9860"/>
                    <a:pt x="1388739" y="22024"/>
                  </a:cubicBezTo>
                  <a:lnTo>
                    <a:pt x="1388739" y="1180143"/>
                  </a:lnTo>
                  <a:cubicBezTo>
                    <a:pt x="1388739" y="1192307"/>
                    <a:pt x="1378878" y="1202167"/>
                    <a:pt x="1366715" y="1202167"/>
                  </a:cubicBezTo>
                  <a:lnTo>
                    <a:pt x="22024" y="1202167"/>
                  </a:lnTo>
                  <a:cubicBezTo>
                    <a:pt x="9860" y="1202167"/>
                    <a:pt x="0" y="1192307"/>
                    <a:pt x="0" y="1180143"/>
                  </a:cubicBezTo>
                  <a:lnTo>
                    <a:pt x="0" y="22024"/>
                  </a:lnTo>
                  <a:cubicBezTo>
                    <a:pt x="0" y="9860"/>
                    <a:pt x="9860" y="0"/>
                    <a:pt x="22024" y="0"/>
                  </a:cubicBezTo>
                  <a:close/>
                </a:path>
              </a:pathLst>
            </a:custGeom>
            <a:solidFill>
              <a:srgbClr val="6E000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88739" cy="1240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55092" y="4339639"/>
            <a:ext cx="5272868" cy="4564478"/>
            <a:chOff x="0" y="0"/>
            <a:chExt cx="1388739" cy="1202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8739" cy="1202167"/>
            </a:xfrm>
            <a:custGeom>
              <a:avLst/>
              <a:gdLst/>
              <a:ahLst/>
              <a:cxnLst/>
              <a:rect r="r" b="b" t="t" l="l"/>
              <a:pathLst>
                <a:path h="1202167" w="1388739">
                  <a:moveTo>
                    <a:pt x="22024" y="0"/>
                  </a:moveTo>
                  <a:lnTo>
                    <a:pt x="1366715" y="0"/>
                  </a:lnTo>
                  <a:cubicBezTo>
                    <a:pt x="1378878" y="0"/>
                    <a:pt x="1388739" y="9860"/>
                    <a:pt x="1388739" y="22024"/>
                  </a:cubicBezTo>
                  <a:lnTo>
                    <a:pt x="1388739" y="1180143"/>
                  </a:lnTo>
                  <a:cubicBezTo>
                    <a:pt x="1388739" y="1192307"/>
                    <a:pt x="1378878" y="1202167"/>
                    <a:pt x="1366715" y="1202167"/>
                  </a:cubicBezTo>
                  <a:lnTo>
                    <a:pt x="22024" y="1202167"/>
                  </a:lnTo>
                  <a:cubicBezTo>
                    <a:pt x="9860" y="1202167"/>
                    <a:pt x="0" y="1192307"/>
                    <a:pt x="0" y="1180143"/>
                  </a:cubicBezTo>
                  <a:lnTo>
                    <a:pt x="0" y="22024"/>
                  </a:lnTo>
                  <a:cubicBezTo>
                    <a:pt x="0" y="9860"/>
                    <a:pt x="9860" y="0"/>
                    <a:pt x="22024" y="0"/>
                  </a:cubicBezTo>
                  <a:close/>
                </a:path>
              </a:pathLst>
            </a:custGeom>
            <a:solidFill>
              <a:srgbClr val="6E000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88739" cy="1240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29941" y="4339639"/>
            <a:ext cx="5272868" cy="4564478"/>
            <a:chOff x="0" y="0"/>
            <a:chExt cx="1388739" cy="12021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8739" cy="1202167"/>
            </a:xfrm>
            <a:custGeom>
              <a:avLst/>
              <a:gdLst/>
              <a:ahLst/>
              <a:cxnLst/>
              <a:rect r="r" b="b" t="t" l="l"/>
              <a:pathLst>
                <a:path h="1202167" w="1388739">
                  <a:moveTo>
                    <a:pt x="22024" y="0"/>
                  </a:moveTo>
                  <a:lnTo>
                    <a:pt x="1366715" y="0"/>
                  </a:lnTo>
                  <a:cubicBezTo>
                    <a:pt x="1378878" y="0"/>
                    <a:pt x="1388739" y="9860"/>
                    <a:pt x="1388739" y="22024"/>
                  </a:cubicBezTo>
                  <a:lnTo>
                    <a:pt x="1388739" y="1180143"/>
                  </a:lnTo>
                  <a:cubicBezTo>
                    <a:pt x="1388739" y="1192307"/>
                    <a:pt x="1378878" y="1202167"/>
                    <a:pt x="1366715" y="1202167"/>
                  </a:cubicBezTo>
                  <a:lnTo>
                    <a:pt x="22024" y="1202167"/>
                  </a:lnTo>
                  <a:cubicBezTo>
                    <a:pt x="9860" y="1202167"/>
                    <a:pt x="0" y="1192307"/>
                    <a:pt x="0" y="1180143"/>
                  </a:cubicBezTo>
                  <a:lnTo>
                    <a:pt x="0" y="22024"/>
                  </a:lnTo>
                  <a:cubicBezTo>
                    <a:pt x="0" y="9860"/>
                    <a:pt x="9860" y="0"/>
                    <a:pt x="22024" y="0"/>
                  </a:cubicBezTo>
                  <a:close/>
                </a:path>
              </a:pathLst>
            </a:custGeom>
            <a:solidFill>
              <a:srgbClr val="6E000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88739" cy="1240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64450" y="5133975"/>
            <a:ext cx="241565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20 min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4552" y="6621878"/>
            <a:ext cx="425545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Fast-Pass arrival window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71647" y="5133975"/>
            <a:ext cx="43975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63798" y="6621878"/>
            <a:ext cx="425545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Blood types supported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38787" y="5133975"/>
            <a:ext cx="45517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38647" y="6621878"/>
            <a:ext cx="425545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Portals — donor + admin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169073" y="2346242"/>
            <a:ext cx="409210" cy="529512"/>
          </a:xfrm>
          <a:custGeom>
            <a:avLst/>
            <a:gdLst/>
            <a:ahLst/>
            <a:cxnLst/>
            <a:rect r="r" b="b" t="t" l="l"/>
            <a:pathLst>
              <a:path h="529512" w="409210">
                <a:moveTo>
                  <a:pt x="0" y="0"/>
                </a:moveTo>
                <a:lnTo>
                  <a:pt x="409210" y="0"/>
                </a:lnTo>
                <a:lnTo>
                  <a:pt x="409210" y="529512"/>
                </a:lnTo>
                <a:lnTo>
                  <a:pt x="0" y="529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829619" y="8275859"/>
            <a:ext cx="4522843" cy="4304038"/>
          </a:xfrm>
          <a:custGeom>
            <a:avLst/>
            <a:gdLst/>
            <a:ahLst/>
            <a:cxnLst/>
            <a:rect r="r" b="b" t="t" l="l"/>
            <a:pathLst>
              <a:path h="4304038" w="4522843">
                <a:moveTo>
                  <a:pt x="0" y="0"/>
                </a:moveTo>
                <a:lnTo>
                  <a:pt x="4522844" y="0"/>
                </a:lnTo>
                <a:lnTo>
                  <a:pt x="4522844" y="4304038"/>
                </a:lnTo>
                <a:lnTo>
                  <a:pt x="0" y="4304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2537150" y="8523003"/>
            <a:ext cx="5074299" cy="5194259"/>
          </a:xfrm>
          <a:custGeom>
            <a:avLst/>
            <a:gdLst/>
            <a:ahLst/>
            <a:cxnLst/>
            <a:rect r="r" b="b" t="t" l="l"/>
            <a:pathLst>
              <a:path h="5194259" w="5074299">
                <a:moveTo>
                  <a:pt x="0" y="0"/>
                </a:moveTo>
                <a:lnTo>
                  <a:pt x="5074300" y="0"/>
                </a:lnTo>
                <a:lnTo>
                  <a:pt x="5074300" y="5194259"/>
                </a:lnTo>
                <a:lnTo>
                  <a:pt x="0" y="5194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66392" y="-1848785"/>
            <a:ext cx="4989726" cy="4829314"/>
          </a:xfrm>
          <a:custGeom>
            <a:avLst/>
            <a:gdLst/>
            <a:ahLst/>
            <a:cxnLst/>
            <a:rect r="r" b="b" t="t" l="l"/>
            <a:pathLst>
              <a:path h="4829314" w="4989726">
                <a:moveTo>
                  <a:pt x="0" y="0"/>
                </a:moveTo>
                <a:lnTo>
                  <a:pt x="4989726" y="0"/>
                </a:lnTo>
                <a:lnTo>
                  <a:pt x="4989726" y="4829314"/>
                </a:lnTo>
                <a:lnTo>
                  <a:pt x="0" y="4829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DAHMJkap_W4</dc:identifier>
  <dcterms:modified xsi:type="dcterms:W3CDTF">2011-08-01T06:04:30Z</dcterms:modified>
  <cp:revision>1</cp:revision>
  <dc:title>Code_EXP Pitching</dc:title>
</cp:coreProperties>
</file>